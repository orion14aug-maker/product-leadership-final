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38912"/>
            <a:ext cx="530352" cy="310896"/>
          </a:xfrm>
          <a:prstGeom prst="roundRect">
            <a:avLst/>
          </a:prstGeom>
          <a:solidFill>
            <a:srgbClr val="0E1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07008" y="365760"/>
            <a:ext cx="99669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E162B"/>
                </a:solidFill>
                <a:latin typeface="Aptos Display"/>
              </a:rPr>
              <a:t>Product Strategy — Earn the post-acute relationship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07008" y="859536"/>
            <a:ext cx="98755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5E6778"/>
                </a:solidFill>
                <a:latin typeface="Aptos"/>
              </a:rPr>
              <a:t>The growth wall is caused by success: users feel better, then stop opening Fable.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6400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5E6778"/>
                </a:solidFill>
                <a:latin typeface="Aptos"/>
              </a:rPr>
              <a:t>FABLE GROWTH  •  PRODUCT LEADERSHIP CERTIFICATION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298448"/>
            <a:ext cx="11045952" cy="713232"/>
          </a:xfrm>
          <a:prstGeom prst="roundRect">
            <a:avLst/>
          </a:prstGeom>
          <a:solidFill>
            <a:srgbClr val="0E162B"/>
          </a:solidFill>
          <a:ln w="12700">
            <a:solidFill>
              <a:srgbClr val="0E16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1463040"/>
            <a:ext cx="13258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3B8A8"/>
                </a:solidFill>
                <a:latin typeface="Aptos"/>
              </a:rPr>
              <a:t>Strategic thesis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1952" y="1408176"/>
            <a:ext cx="9235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ptos"/>
              </a:rPr>
              <a:t>Make Fable useful after the acute phase — without becoming clinical or losing the simplicity and trust that made it work.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267712"/>
            <a:ext cx="5806440" cy="5852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58952" y="2395728"/>
            <a:ext cx="1508760" cy="310896"/>
          </a:xfrm>
          <a:prstGeom prst="roundRect">
            <a:avLst/>
          </a:prstGeom>
          <a:solidFill>
            <a:srgbClr val="EFE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695CEB"/>
                </a:solidFill>
                <a:latin typeface="Aptos"/>
              </a:rPr>
              <a:t>WINNING ASPIRATION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50592" y="2359152"/>
            <a:ext cx="368503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20" b="0">
                <a:solidFill>
                  <a:srgbClr val="1C2332"/>
                </a:solidFill>
                <a:latin typeface="Aptos"/>
              </a:rPr>
              <a:t>Ongoing, trusted everyday wellbeing after acute anxiety.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2980944"/>
            <a:ext cx="5806440" cy="5852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58952" y="3108960"/>
            <a:ext cx="1508760" cy="310896"/>
          </a:xfrm>
          <a:prstGeom prst="roundRect">
            <a:avLst/>
          </a:prstGeom>
          <a:solidFill>
            <a:srgbClr val="EFE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695CEB"/>
                </a:solidFill>
                <a:latin typeface="Aptos"/>
              </a:rPr>
              <a:t>WHERE TO PLAY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50592" y="3072384"/>
            <a:ext cx="368503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20" b="0">
                <a:solidFill>
                  <a:srgbClr val="1C2332"/>
                </a:solidFill>
                <a:latin typeface="Aptos"/>
              </a:rPr>
              <a:t>Existing 25–45 users entering the post-acute phase; mobile freemium/premium.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4176"/>
            <a:ext cx="5806440" cy="5852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58952" y="3822191"/>
            <a:ext cx="1508760" cy="310896"/>
          </a:xfrm>
          <a:prstGeom prst="roundRect">
            <a:avLst/>
          </a:prstGeom>
          <a:solidFill>
            <a:srgbClr val="EFE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695CEB"/>
                </a:solidFill>
                <a:latin typeface="Aptos"/>
              </a:rPr>
              <a:t>HOW TO WIN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50592" y="3785615"/>
            <a:ext cx="368503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20" b="0">
                <a:solidFill>
                  <a:srgbClr val="1C2332"/>
                </a:solidFill>
                <a:latin typeface="Aptos"/>
              </a:rPr>
              <a:t>Personalised, low-friction check-ins, recommendations and routines.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07408"/>
            <a:ext cx="5806440" cy="5852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58952" y="4535424"/>
            <a:ext cx="1508760" cy="310896"/>
          </a:xfrm>
          <a:prstGeom prst="roundRect">
            <a:avLst/>
          </a:prstGeom>
          <a:solidFill>
            <a:srgbClr val="EFE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695CEB"/>
                </a:solidFill>
                <a:latin typeface="Aptos"/>
              </a:rPr>
              <a:t>CAPABILITIES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50592" y="4498848"/>
            <a:ext cx="368503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20" b="0">
                <a:solidFill>
                  <a:srgbClr val="1C2332"/>
                </a:solidFill>
                <a:latin typeface="Aptos"/>
              </a:rPr>
              <a:t>Lifecycle detection, segmentation, AI check-ins, experimentation, safety.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5120640"/>
            <a:ext cx="5806440" cy="5852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58952" y="5248655"/>
            <a:ext cx="1508760" cy="310896"/>
          </a:xfrm>
          <a:prstGeom prst="roundRect">
            <a:avLst/>
          </a:prstGeom>
          <a:solidFill>
            <a:srgbClr val="EFE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695CEB"/>
                </a:solidFill>
                <a:latin typeface="Aptos"/>
              </a:rPr>
              <a:t>SYSTEMS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450592" y="5212079"/>
            <a:ext cx="368503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20" b="0">
                <a:solidFill>
                  <a:srgbClr val="1C2332"/>
                </a:solidFill>
                <a:latin typeface="Aptos"/>
              </a:rPr>
              <a:t>Cohort retention, weekly usage, renewal, monthly experiments, quarterly review.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601968" y="2267712"/>
            <a:ext cx="5010912" cy="34381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76288" y="2523744"/>
            <a:ext cx="1645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695CEB"/>
                </a:solidFill>
                <a:latin typeface="Aptos"/>
              </a:rPr>
              <a:t>OKR CASCADE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76288" y="2907792"/>
            <a:ext cx="10972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5E6778"/>
                </a:solidFill>
                <a:latin typeface="Aptos"/>
              </a:rPr>
              <a:t>Objective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76288" y="3136392"/>
            <a:ext cx="4224528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E162B"/>
                </a:solidFill>
                <a:latin typeface="Aptos"/>
              </a:rPr>
              <a:t>Become the trusted ongoing wellbeing companion after the acute need passes.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76288" y="3886200"/>
            <a:ext cx="411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5E6778"/>
                </a:solidFill>
                <a:latin typeface="Aptos"/>
              </a:rPr>
              <a:t>KR1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60920" y="3858768"/>
            <a:ext cx="8229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23B8A8"/>
                </a:solidFill>
                <a:latin typeface="Aptos"/>
              </a:rPr>
              <a:t>+30%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0" y="3886200"/>
            <a:ext cx="2834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0" b="0">
                <a:solidFill>
                  <a:srgbClr val="1C2332"/>
                </a:solidFill>
                <a:latin typeface="Aptos"/>
              </a:rPr>
              <a:t>180-day post-acute retention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76288" y="4389120"/>
            <a:ext cx="411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5E6778"/>
                </a:solidFill>
                <a:latin typeface="Aptos"/>
              </a:rPr>
              <a:t>KR2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60920" y="4361688"/>
            <a:ext cx="8229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23B8A8"/>
                </a:solidFill>
                <a:latin typeface="Aptos"/>
              </a:rPr>
              <a:t>+25%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600" y="4389120"/>
            <a:ext cx="2834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0" b="0">
                <a:solidFill>
                  <a:srgbClr val="1C2332"/>
                </a:solidFill>
                <a:latin typeface="Aptos"/>
              </a:rPr>
              <a:t>weekly active usage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76288" y="4892040"/>
            <a:ext cx="411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5E6778"/>
                </a:solidFill>
                <a:latin typeface="Aptos"/>
              </a:rPr>
              <a:t>KR3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60920" y="4864607"/>
            <a:ext cx="8229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23B8A8"/>
                </a:solidFill>
                <a:latin typeface="Aptos"/>
              </a:rPr>
              <a:t>+20%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9600" y="4892040"/>
            <a:ext cx="2834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0" b="0">
                <a:solidFill>
                  <a:srgbClr val="1C2332"/>
                </a:solidFill>
                <a:latin typeface="Aptos"/>
              </a:rPr>
              <a:t>premium renewal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601968" y="5833872"/>
            <a:ext cx="5010912" cy="457200"/>
          </a:xfrm>
          <a:prstGeom prst="roundRect">
            <a:avLst/>
          </a:prstGeom>
          <a:solidFill>
            <a:srgbClr val="FDEDF1"/>
          </a:solidFill>
          <a:ln w="12700">
            <a:solidFill>
              <a:srgbClr val="FDED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858000" y="5961888"/>
            <a:ext cx="731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D3455B"/>
                </a:solidFill>
                <a:latin typeface="Aptos"/>
              </a:rPr>
              <a:t>HARD NO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662672" y="5907024"/>
            <a:ext cx="3675887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C2332"/>
                </a:solidFill>
                <a:latin typeface="Aptos"/>
              </a:rPr>
              <a:t>Do not make social/community the primary growth strategy yet.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38912"/>
            <a:ext cx="530352" cy="310896"/>
          </a:xfrm>
          <a:prstGeom prst="roundRect">
            <a:avLst/>
          </a:prstGeom>
          <a:solidFill>
            <a:srgbClr val="0E1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07008" y="365760"/>
            <a:ext cx="99669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E162B"/>
                </a:solidFill>
                <a:latin typeface="Aptos Display"/>
              </a:rPr>
              <a:t>Outcome Roadmap — Put the retention Rocks first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07008" y="859536"/>
            <a:ext cx="98755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5E6778"/>
                </a:solidFill>
                <a:latin typeface="Aptos"/>
              </a:rPr>
              <a:t>Three near-term bets test the core post-acute value hypothesis before expansion.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6400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5E6778"/>
                </a:solidFill>
                <a:latin typeface="Aptos"/>
              </a:rPr>
              <a:t>FABLE GROWTH  •  PRODUCT LEADERSHIP CERTIFICATION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417320"/>
            <a:ext cx="3319272" cy="4160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77240" y="1645920"/>
            <a:ext cx="1417320" cy="310896"/>
          </a:xfrm>
          <a:prstGeom prst="roundRect">
            <a:avLst/>
          </a:prstGeom>
          <a:solidFill>
            <a:srgbClr val="EFE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695CEB"/>
                </a:solidFill>
                <a:latin typeface="Aptos"/>
              </a:rPr>
              <a:t>NOW  ·  0–3 MO</a:t>
            </a:r>
          </a:p>
        </p:txBody>
      </p:sp>
      <p:sp>
        <p:nvSpPr>
          <p:cNvPr id="9" name="Oval 8"/>
          <p:cNvSpPr/>
          <p:nvPr/>
        </p:nvSpPr>
        <p:spPr>
          <a:xfrm>
            <a:off x="795528" y="2176272"/>
            <a:ext cx="310896" cy="310896"/>
          </a:xfrm>
          <a:prstGeom prst="ellipse">
            <a:avLst/>
          </a:prstGeom>
          <a:solidFill>
            <a:srgbClr val="695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5528" y="2203703"/>
            <a:ext cx="310896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25295" y="2157984"/>
            <a:ext cx="2359152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E162B"/>
                </a:solidFill>
                <a:latin typeface="Aptos"/>
              </a:rPr>
              <a:t>Personalised post-acute engagement</a:t>
            </a:r>
          </a:p>
        </p:txBody>
      </p:sp>
      <p:sp>
        <p:nvSpPr>
          <p:cNvPr id="12" name="Oval 11"/>
          <p:cNvSpPr/>
          <p:nvPr/>
        </p:nvSpPr>
        <p:spPr>
          <a:xfrm>
            <a:off x="795528" y="2889504"/>
            <a:ext cx="310896" cy="310896"/>
          </a:xfrm>
          <a:prstGeom prst="ellipse">
            <a:avLst/>
          </a:prstGeom>
          <a:solidFill>
            <a:srgbClr val="695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5528" y="2916936"/>
            <a:ext cx="310896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25295" y="2871216"/>
            <a:ext cx="2359152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E162B"/>
                </a:solidFill>
                <a:latin typeface="Aptos"/>
              </a:rPr>
              <a:t>Reliable contextual re-engagement</a:t>
            </a:r>
          </a:p>
        </p:txBody>
      </p:sp>
      <p:sp>
        <p:nvSpPr>
          <p:cNvPr id="15" name="Oval 14"/>
          <p:cNvSpPr/>
          <p:nvPr/>
        </p:nvSpPr>
        <p:spPr>
          <a:xfrm>
            <a:off x="795528" y="3602736"/>
            <a:ext cx="310896" cy="310896"/>
          </a:xfrm>
          <a:prstGeom prst="ellipse">
            <a:avLst/>
          </a:prstGeom>
          <a:solidFill>
            <a:srgbClr val="695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5528" y="3630168"/>
            <a:ext cx="310896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25295" y="3584448"/>
            <a:ext cx="2359152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E162B"/>
                </a:solidFill>
                <a:latin typeface="Aptos"/>
              </a:rPr>
              <a:t>Everyday wellbeing value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51376" y="1417320"/>
            <a:ext cx="3319272" cy="4160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361688" y="1645920"/>
            <a:ext cx="1417320" cy="310896"/>
          </a:xfrm>
          <a:prstGeom prst="roundRect">
            <a:avLst/>
          </a:prstGeom>
          <a:solidFill>
            <a:srgbClr val="E5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23B8A8"/>
                </a:solidFill>
                <a:latin typeface="Aptos"/>
              </a:rPr>
              <a:t>NEXT  ·  3–6 MO</a:t>
            </a:r>
          </a:p>
        </p:txBody>
      </p:sp>
      <p:sp>
        <p:nvSpPr>
          <p:cNvPr id="20" name="Oval 19"/>
          <p:cNvSpPr/>
          <p:nvPr/>
        </p:nvSpPr>
        <p:spPr>
          <a:xfrm>
            <a:off x="4379976" y="2176272"/>
            <a:ext cx="310896" cy="310896"/>
          </a:xfrm>
          <a:prstGeom prst="ellipse">
            <a:avLst/>
          </a:prstGeom>
          <a:solidFill>
            <a:srgbClr val="23B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79976" y="2203703"/>
            <a:ext cx="310896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09744" y="2157984"/>
            <a:ext cx="2359152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1C2332"/>
                </a:solidFill>
                <a:latin typeface="Aptos"/>
              </a:rPr>
              <a:t>Reduce product friction &amp; load time</a:t>
            </a:r>
          </a:p>
        </p:txBody>
      </p:sp>
      <p:sp>
        <p:nvSpPr>
          <p:cNvPr id="23" name="Oval 22"/>
          <p:cNvSpPr/>
          <p:nvPr/>
        </p:nvSpPr>
        <p:spPr>
          <a:xfrm>
            <a:off x="4379976" y="2889504"/>
            <a:ext cx="310896" cy="310896"/>
          </a:xfrm>
          <a:prstGeom prst="ellipse">
            <a:avLst/>
          </a:prstGeom>
          <a:solidFill>
            <a:srgbClr val="23B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79976" y="2916936"/>
            <a:ext cx="310896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09744" y="2871216"/>
            <a:ext cx="2359152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1C2332"/>
                </a:solidFill>
                <a:latin typeface="Aptos"/>
              </a:rPr>
              <a:t>Reframe onboarding for ongoing wellbeing</a:t>
            </a:r>
          </a:p>
        </p:txBody>
      </p:sp>
      <p:sp>
        <p:nvSpPr>
          <p:cNvPr id="26" name="Oval 25"/>
          <p:cNvSpPr/>
          <p:nvPr/>
        </p:nvSpPr>
        <p:spPr>
          <a:xfrm>
            <a:off x="4379976" y="3602736"/>
            <a:ext cx="310896" cy="310896"/>
          </a:xfrm>
          <a:prstGeom prst="ellipse">
            <a:avLst/>
          </a:prstGeom>
          <a:solidFill>
            <a:srgbClr val="23B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79976" y="3630168"/>
            <a:ext cx="310896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09744" y="3584448"/>
            <a:ext cx="2359152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1C2332"/>
                </a:solidFill>
                <a:latin typeface="Aptos"/>
              </a:rPr>
              <a:t>Test habit mechanics selectively</a:t>
            </a:r>
          </a:p>
        </p:txBody>
      </p:sp>
      <p:sp>
        <p:nvSpPr>
          <p:cNvPr id="29" name="Oval 28"/>
          <p:cNvSpPr/>
          <p:nvPr/>
        </p:nvSpPr>
        <p:spPr>
          <a:xfrm>
            <a:off x="4379976" y="4315968"/>
            <a:ext cx="310896" cy="310896"/>
          </a:xfrm>
          <a:prstGeom prst="ellipse">
            <a:avLst/>
          </a:prstGeom>
          <a:solidFill>
            <a:srgbClr val="23B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79976" y="4343400"/>
            <a:ext cx="310896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09744" y="4297680"/>
            <a:ext cx="2359152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1C2332"/>
                </a:solidFill>
                <a:latin typeface="Aptos"/>
              </a:rPr>
              <a:t>Close accessibility gaps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735824" y="1417320"/>
            <a:ext cx="3319272" cy="4160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7946136" y="1645920"/>
            <a:ext cx="1417320" cy="310896"/>
          </a:xfrm>
          <a:prstGeom prst="roundRect">
            <a:avLst/>
          </a:prstGeom>
          <a:solidFill>
            <a:srgbClr val="E8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3A86FF"/>
                </a:solidFill>
                <a:latin typeface="Aptos"/>
              </a:rPr>
              <a:t>LATER  ·  6–12 MO</a:t>
            </a:r>
          </a:p>
        </p:txBody>
      </p:sp>
      <p:sp>
        <p:nvSpPr>
          <p:cNvPr id="34" name="Oval 33"/>
          <p:cNvSpPr/>
          <p:nvPr/>
        </p:nvSpPr>
        <p:spPr>
          <a:xfrm>
            <a:off x="7964424" y="2176272"/>
            <a:ext cx="310896" cy="310896"/>
          </a:xfrm>
          <a:prstGeom prst="ellipse">
            <a:avLst/>
          </a:prstGeom>
          <a:solidFill>
            <a:srgbClr val="3A8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964424" y="2203703"/>
            <a:ext cx="310896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94192" y="2157984"/>
            <a:ext cx="2359152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1C2332"/>
                </a:solidFill>
                <a:latin typeface="Aptos"/>
              </a:rPr>
              <a:t>Extend to web / wearables</a:t>
            </a:r>
          </a:p>
        </p:txBody>
      </p:sp>
      <p:sp>
        <p:nvSpPr>
          <p:cNvPr id="37" name="Oval 36"/>
          <p:cNvSpPr/>
          <p:nvPr/>
        </p:nvSpPr>
        <p:spPr>
          <a:xfrm>
            <a:off x="7964424" y="2889504"/>
            <a:ext cx="310896" cy="310896"/>
          </a:xfrm>
          <a:prstGeom prst="ellipse">
            <a:avLst/>
          </a:prstGeom>
          <a:solidFill>
            <a:srgbClr val="3A8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964424" y="2916936"/>
            <a:ext cx="310896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94192" y="2871216"/>
            <a:ext cx="2359152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1C2332"/>
                </a:solidFill>
                <a:latin typeface="Aptos"/>
              </a:rPr>
              <a:t>Localise after retention is proven</a:t>
            </a:r>
          </a:p>
        </p:txBody>
      </p:sp>
      <p:sp>
        <p:nvSpPr>
          <p:cNvPr id="40" name="Oval 39"/>
          <p:cNvSpPr/>
          <p:nvPr/>
        </p:nvSpPr>
        <p:spPr>
          <a:xfrm>
            <a:off x="7964424" y="3602736"/>
            <a:ext cx="310896" cy="310896"/>
          </a:xfrm>
          <a:prstGeom prst="ellipse">
            <a:avLst/>
          </a:prstGeom>
          <a:solidFill>
            <a:srgbClr val="3A8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964424" y="3630168"/>
            <a:ext cx="310896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94192" y="3584448"/>
            <a:ext cx="2359152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1C2332"/>
                </a:solidFill>
                <a:latin typeface="Aptos"/>
              </a:rPr>
              <a:t>Reassess community as separate hypothesis</a:t>
            </a:r>
          </a:p>
        </p:txBody>
      </p:sp>
      <p:sp>
        <p:nvSpPr>
          <p:cNvPr id="43" name="Oval 42"/>
          <p:cNvSpPr/>
          <p:nvPr/>
        </p:nvSpPr>
        <p:spPr>
          <a:xfrm>
            <a:off x="7964424" y="4315968"/>
            <a:ext cx="310896" cy="310896"/>
          </a:xfrm>
          <a:prstGeom prst="ellipse">
            <a:avLst/>
          </a:prstGeom>
          <a:solidFill>
            <a:srgbClr val="3A8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964424" y="4343400"/>
            <a:ext cx="310896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94192" y="4297680"/>
            <a:ext cx="2359152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1C2332"/>
                </a:solidFill>
                <a:latin typeface="Aptos"/>
              </a:rPr>
              <a:t>Evaluate B2B expansion later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66928" y="5797296"/>
            <a:ext cx="10488168" cy="566928"/>
          </a:xfrm>
          <a:prstGeom prst="roundRect">
            <a:avLst/>
          </a:prstGeom>
          <a:solidFill>
            <a:srgbClr val="0E162B"/>
          </a:solidFill>
          <a:ln w="12700">
            <a:solidFill>
              <a:srgbClr val="0E16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04672" y="5971032"/>
            <a:ext cx="8229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F5A623"/>
                </a:solidFill>
                <a:latin typeface="Aptos"/>
              </a:rPr>
              <a:t>TRADE-OFF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691640" y="5897880"/>
            <a:ext cx="9098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ptos"/>
              </a:rPr>
              <a:t>Sequence retention learning first; push optimisation and expansion behind proof; exclude clinical expansion from this horizon.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38912"/>
            <a:ext cx="530352" cy="310896"/>
          </a:xfrm>
          <a:prstGeom prst="roundRect">
            <a:avLst/>
          </a:prstGeom>
          <a:solidFill>
            <a:srgbClr val="0E1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07008" y="365760"/>
            <a:ext cx="99669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E162B"/>
                </a:solidFill>
                <a:latin typeface="Aptos Display"/>
              </a:rPr>
              <a:t>Team Charter — Outcome ownership beats shared-feature ownership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07008" y="859536"/>
            <a:ext cx="98755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5E6778"/>
                </a:solidFill>
                <a:latin typeface="Aptos"/>
              </a:rPr>
              <a:t>Clarify who decides before the AI check-in layer becomes a shared-surface conflict.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6400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5E6778"/>
                </a:solidFill>
                <a:latin typeface="Aptos"/>
              </a:rPr>
              <a:t>FABLE GROWTH  •  PRODUCT LEADERSHIP CERTIFICATION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389888"/>
            <a:ext cx="5394960" cy="43342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664208"/>
            <a:ext cx="1645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695CEB"/>
                </a:solidFill>
                <a:latin typeface="Aptos"/>
              </a:rPr>
              <a:t>WHAT WE OWN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103120"/>
            <a:ext cx="777240" cy="310896"/>
          </a:xfrm>
          <a:prstGeom prst="roundRect">
            <a:avLst/>
          </a:prstGeom>
          <a:solidFill>
            <a:srgbClr val="EFE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695CEB"/>
                </a:solidFill>
                <a:latin typeface="Aptos"/>
              </a:rPr>
              <a:t>PM1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73936" y="2084831"/>
            <a:ext cx="3858768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20" b="1">
                <a:solidFill>
                  <a:srgbClr val="1C2332"/>
                </a:solidFill>
                <a:latin typeface="Aptos"/>
              </a:rPr>
              <a:t>Onboarding &amp; early activation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2724912"/>
            <a:ext cx="777240" cy="310896"/>
          </a:xfrm>
          <a:prstGeom prst="roundRect">
            <a:avLst/>
          </a:prstGeom>
          <a:solidFill>
            <a:srgbClr val="EFE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695CEB"/>
                </a:solidFill>
                <a:latin typeface="Aptos"/>
              </a:rPr>
              <a:t>PM2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73936" y="2706624"/>
            <a:ext cx="3858768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20" b="1">
                <a:solidFill>
                  <a:srgbClr val="1C2332"/>
                </a:solidFill>
                <a:latin typeface="Aptos"/>
              </a:rPr>
              <a:t>Retention &amp; post-acute experience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3346704"/>
            <a:ext cx="777240" cy="310896"/>
          </a:xfrm>
          <a:prstGeom prst="roundRect">
            <a:avLst/>
          </a:prstGeom>
          <a:solidFill>
            <a:srgbClr val="EFE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695CEB"/>
                </a:solidFill>
                <a:latin typeface="Aptos"/>
              </a:rPr>
              <a:t>PM3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73936" y="3328416"/>
            <a:ext cx="3858768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20" b="1">
                <a:solidFill>
                  <a:srgbClr val="1C2332"/>
                </a:solidFill>
                <a:latin typeface="Aptos"/>
              </a:rPr>
              <a:t>AI-powered check-in capability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3968496"/>
            <a:ext cx="777240" cy="310896"/>
          </a:xfrm>
          <a:prstGeom prst="roundRect">
            <a:avLst/>
          </a:prstGeom>
          <a:solidFill>
            <a:srgbClr val="EFE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695CEB"/>
                </a:solidFill>
                <a:latin typeface="Aptos"/>
              </a:rPr>
              <a:t>CORE TEAM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73936" y="3950208"/>
            <a:ext cx="3858768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20" b="0">
                <a:solidFill>
                  <a:srgbClr val="1C2332"/>
                </a:solidFill>
                <a:latin typeface="Aptos"/>
              </a:rPr>
              <a:t>Roadmap, experiments, personalisation, product measurement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700016"/>
            <a:ext cx="128016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D3455B"/>
                </a:solidFill>
                <a:latin typeface="Aptos"/>
              </a:rPr>
              <a:t>OUT OF SCOPE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4965192"/>
            <a:ext cx="47091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80" b="0">
                <a:solidFill>
                  <a:srgbClr val="5E6778"/>
                </a:solidFill>
                <a:latin typeface="Aptos"/>
              </a:rPr>
              <a:t>Clinical repositioning • company-wide AI infrastructure • acquisition/media strategy • B2B expansion in the current horizon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99632" y="1389888"/>
            <a:ext cx="5413248" cy="43342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55664" y="1664208"/>
            <a:ext cx="17373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3B8A8"/>
                </a:solidFill>
                <a:latin typeface="Aptos"/>
              </a:rPr>
              <a:t>HOW WE DECIDE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55664" y="2103120"/>
            <a:ext cx="20116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3B8A8"/>
                </a:solidFill>
                <a:latin typeface="Aptos"/>
              </a:rPr>
              <a:t>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20840" y="2084831"/>
            <a:ext cx="449884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C2332"/>
                </a:solidFill>
                <a:latin typeface="Aptos"/>
              </a:rPr>
              <a:t>Outcome-owning PM decides within the surface.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664" y="2651760"/>
            <a:ext cx="20116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3B8A8"/>
                </a:solidFill>
                <a:latin typeface="Aptos"/>
              </a:rP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20840" y="2633472"/>
            <a:ext cx="449884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C2332"/>
                </a:solidFill>
                <a:latin typeface="Aptos"/>
              </a:rPr>
              <a:t>Shared technology does not transfer outcome ownership.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55664" y="3200400"/>
            <a:ext cx="20116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3B8A8"/>
                </a:solidFill>
                <a:latin typeface="Aptos"/>
              </a:rPr>
              <a:t>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20840" y="3182112"/>
            <a:ext cx="449884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C2332"/>
                </a:solidFill>
                <a:latin typeface="Aptos"/>
              </a:rPr>
              <a:t>One synchronous attempt to resolve cross-team conflict.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55664" y="3749039"/>
            <a:ext cx="20116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3B8A8"/>
                </a:solidFill>
                <a:latin typeface="Aptos"/>
              </a:rPr>
              <a:t>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20840" y="3730752"/>
            <a:ext cx="449884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C2332"/>
                </a:solidFill>
                <a:latin typeface="Aptos"/>
              </a:rPr>
              <a:t>Unresolved conflicts escalate to Product Lead within 24h.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55664" y="4297679"/>
            <a:ext cx="20116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3B8A8"/>
                </a:solidFill>
                <a:latin typeface="Aptos"/>
              </a:rPr>
              <a:t>•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20840" y="4279392"/>
            <a:ext cx="449884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C2332"/>
                </a:solidFill>
                <a:latin typeface="Aptos"/>
              </a:rPr>
              <a:t>Hard Nos reopen only with new evidence; safety can pause release.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55664" y="4956048"/>
            <a:ext cx="24688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5E6778"/>
                </a:solidFill>
                <a:latin typeface="Aptos"/>
              </a:rPr>
              <a:t>AI CHECK-IN CONFLICT EXAMPLE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55664" y="5230368"/>
            <a:ext cx="987552" cy="310896"/>
          </a:xfrm>
          <a:prstGeom prst="roundRect">
            <a:avLst/>
          </a:prstGeom>
          <a:solidFill>
            <a:srgbClr val="E5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23B8A8"/>
                </a:solidFill>
                <a:latin typeface="Aptos"/>
              </a:rPr>
              <a:t>PM3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55664" y="5568696"/>
            <a:ext cx="10515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90" b="0">
                <a:solidFill>
                  <a:srgbClr val="5E6778"/>
                </a:solidFill>
                <a:latin typeface="Aptos"/>
              </a:rPr>
              <a:t>AI capability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79792" y="5257800"/>
            <a:ext cx="219456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5E6778"/>
                </a:solidFill>
                <a:latin typeface="Aptos"/>
              </a:rPr>
              <a:t>→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708392" y="5230368"/>
            <a:ext cx="987552" cy="310896"/>
          </a:xfrm>
          <a:prstGeom prst="roundRect">
            <a:avLst/>
          </a:prstGeom>
          <a:solidFill>
            <a:srgbClr val="E5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23B8A8"/>
                </a:solidFill>
                <a:latin typeface="Aptos"/>
              </a:rPr>
              <a:t>PM2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08392" y="5568696"/>
            <a:ext cx="10515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90" b="0">
                <a:solidFill>
                  <a:srgbClr val="5E6778"/>
                </a:solidFill>
                <a:latin typeface="Aptos"/>
              </a:rPr>
              <a:t>Post-acute outcome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732520" y="5257800"/>
            <a:ext cx="219456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5E6778"/>
                </a:solidFill>
                <a:latin typeface="Aptos"/>
              </a:rPr>
              <a:t>→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961120" y="5230368"/>
            <a:ext cx="987552" cy="310896"/>
          </a:xfrm>
          <a:prstGeom prst="roundRect">
            <a:avLst/>
          </a:prstGeom>
          <a:solidFill>
            <a:srgbClr val="E5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23B8A8"/>
                </a:solidFill>
                <a:latin typeface="Aptos"/>
              </a:rPr>
              <a:t>GROWTH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961120" y="5568696"/>
            <a:ext cx="10515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90" b="0">
                <a:solidFill>
                  <a:srgbClr val="5E6778"/>
                </a:solidFill>
                <a:latin typeface="Aptos"/>
              </a:rPr>
              <a:t>CRM channel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985248" y="5257800"/>
            <a:ext cx="219456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5E6778"/>
                </a:solidFill>
                <a:latin typeface="Aptos"/>
              </a:rPr>
              <a:t>→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0213848" y="5230368"/>
            <a:ext cx="987552" cy="310896"/>
          </a:xfrm>
          <a:prstGeom prst="roundRect">
            <a:avLst/>
          </a:prstGeom>
          <a:solidFill>
            <a:srgbClr val="FFF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5A623"/>
                </a:solidFill>
                <a:latin typeface="Aptos"/>
              </a:rPr>
              <a:t>PRODUCT LEAD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213848" y="5568696"/>
            <a:ext cx="10515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90" b="0">
                <a:solidFill>
                  <a:srgbClr val="5E6778"/>
                </a:solidFill>
                <a:latin typeface="Aptos"/>
              </a:rPr>
              <a:t>24h tie-break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38912"/>
            <a:ext cx="530352" cy="310896"/>
          </a:xfrm>
          <a:prstGeom prst="roundRect">
            <a:avLst/>
          </a:prstGeom>
          <a:solidFill>
            <a:srgbClr val="0E1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07008" y="365760"/>
            <a:ext cx="99669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E162B"/>
                </a:solidFill>
                <a:latin typeface="Aptos Display"/>
              </a:rPr>
              <a:t>Financial Model — Fund the evidence, not the headline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07008" y="859536"/>
            <a:ext cx="98755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5E6778"/>
                </a:solidFill>
                <a:latin typeface="Aptos"/>
              </a:rPr>
              <a:t>Stress-test the supplied Team Tier case before committing scale funding.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6400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5E6778"/>
                </a:solidFill>
                <a:latin typeface="Aptos"/>
              </a:rPr>
              <a:t>FABLE GROWTH  •  PRODUCT LEADERSHIP CERTIFICATION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408176"/>
            <a:ext cx="1993392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09344"/>
            <a:ext cx="166420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695CEB"/>
                </a:solidFill>
                <a:latin typeface="Aptos"/>
              </a:rPr>
              <a:t>$12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039112"/>
            <a:ext cx="1664208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80" b="0">
                <a:solidFill>
                  <a:srgbClr val="5E6778"/>
                </a:solidFill>
                <a:latin typeface="Aptos"/>
              </a:rPr>
              <a:t>seat / month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79776" y="1408176"/>
            <a:ext cx="1993392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44368" y="1609344"/>
            <a:ext cx="166420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23B8A8"/>
                </a:solidFill>
                <a:latin typeface="Aptos"/>
              </a:rPr>
              <a:t>4%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44368" y="2039112"/>
            <a:ext cx="1664208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80" b="0">
                <a:solidFill>
                  <a:srgbClr val="5E6778"/>
                </a:solidFill>
                <a:latin typeface="Aptos"/>
              </a:rPr>
              <a:t>conversion assumption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992624" y="1408176"/>
            <a:ext cx="1993392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57216" y="1609344"/>
            <a:ext cx="166420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3A86FF"/>
                </a:solidFill>
                <a:latin typeface="Aptos"/>
              </a:rPr>
              <a:t>120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57216" y="2039112"/>
            <a:ext cx="1664208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80" b="0">
                <a:solidFill>
                  <a:srgbClr val="5E6778"/>
                </a:solidFill>
                <a:latin typeface="Aptos"/>
              </a:rPr>
              <a:t>team conversions / qtr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205472" y="1408176"/>
            <a:ext cx="1993392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70064" y="1609344"/>
            <a:ext cx="166420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F5A623"/>
                </a:solidFill>
                <a:latin typeface="Aptos"/>
              </a:rPr>
              <a:t>$103.7K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70064" y="2039112"/>
            <a:ext cx="1664208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80" b="0">
                <a:solidFill>
                  <a:srgbClr val="5E6778"/>
                </a:solidFill>
                <a:latin typeface="Aptos"/>
              </a:rPr>
              <a:t>net new ARR / Q1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418319" y="1408176"/>
            <a:ext cx="1993392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82911" y="1609344"/>
            <a:ext cx="166420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D3455B"/>
                </a:solidFill>
                <a:latin typeface="Aptos"/>
              </a:rPr>
              <a:t>13.2 mo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82911" y="2039112"/>
            <a:ext cx="1664208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80" b="0">
                <a:solidFill>
                  <a:srgbClr val="5E6778"/>
                </a:solidFill>
                <a:latin typeface="Aptos"/>
              </a:rPr>
              <a:t>reconciled payback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2724912"/>
            <a:ext cx="6547104" cy="2697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2990088"/>
            <a:ext cx="118872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695CEB"/>
                </a:solidFill>
                <a:latin typeface="Aptos"/>
              </a:rPr>
              <a:t>STRESS-TEST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3419856"/>
            <a:ext cx="1874519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60" b="1">
                <a:solidFill>
                  <a:srgbClr val="1C2332"/>
                </a:solidFill>
                <a:latin typeface="Aptos"/>
              </a:rPr>
              <a:t>Conversion-adjusted CAC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88920" y="3419856"/>
            <a:ext cx="393192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60" b="0">
                <a:solidFill>
                  <a:srgbClr val="5E6778"/>
                </a:solidFill>
                <a:latin typeface="Aptos"/>
              </a:rPr>
              <a:t>~$950 per converted team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3785616"/>
            <a:ext cx="1874519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60" b="1">
                <a:solidFill>
                  <a:srgbClr val="1C2332"/>
                </a:solidFill>
                <a:latin typeface="Aptos"/>
              </a:rPr>
              <a:t>Simplified revenue LTV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88920" y="3785616"/>
            <a:ext cx="393192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60" b="0">
                <a:solidFill>
                  <a:srgbClr val="5E6778"/>
                </a:solidFill>
                <a:latin typeface="Aptos"/>
              </a:rPr>
              <a:t>~$5,760 per team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4151376"/>
            <a:ext cx="1874519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60" b="1">
                <a:solidFill>
                  <a:srgbClr val="1C2332"/>
                </a:solidFill>
                <a:latin typeface="Aptos"/>
              </a:rPr>
              <a:t>Simplified LTV:CAC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88920" y="4151376"/>
            <a:ext cx="393192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60" b="0">
                <a:solidFill>
                  <a:srgbClr val="5E6778"/>
                </a:solidFill>
                <a:latin typeface="Aptos"/>
              </a:rPr>
              <a:t>~6.1:1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4517136"/>
            <a:ext cx="1874519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60" b="1">
                <a:solidFill>
                  <a:srgbClr val="1C2332"/>
                </a:solidFill>
                <a:latin typeface="Aptos"/>
              </a:rPr>
              <a:t>Churn at 25%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88920" y="4517136"/>
            <a:ext cx="393192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60" b="0">
                <a:solidFill>
                  <a:srgbClr val="5E6778"/>
                </a:solidFill>
                <a:latin typeface="Aptos"/>
              </a:rPr>
              <a:t>LTV:CAC falls to ~3.6:1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" y="4882896"/>
            <a:ext cx="1874519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60" b="1">
                <a:solidFill>
                  <a:srgbClr val="1C2332"/>
                </a:solidFill>
                <a:latin typeface="Aptos"/>
              </a:rPr>
              <a:t>CAC +20%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88920" y="4882896"/>
            <a:ext cx="393192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60" b="0">
                <a:solidFill>
                  <a:srgbClr val="5E6778"/>
                </a:solidFill>
                <a:latin typeface="Aptos"/>
              </a:rPr>
              <a:t>payback rises to ~15.8 months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360920" y="2724912"/>
            <a:ext cx="4251960" cy="2697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616952" y="2990088"/>
            <a:ext cx="164592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23B8A8"/>
                </a:solidFill>
                <a:latin typeface="Aptos"/>
              </a:rPr>
              <a:t>FUNDING DECISION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616952" y="3364992"/>
            <a:ext cx="33375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E162B"/>
                </a:solidFill>
                <a:latin typeface="Aptos"/>
              </a:rPr>
              <a:t>FUND WITH CONDITIONS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616952" y="3822191"/>
            <a:ext cx="3493008" cy="8961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0" b="0">
                <a:solidFill>
                  <a:srgbClr val="1C2332"/>
                </a:solidFill>
                <a:latin typeface="Aptos"/>
              </a:rPr>
              <a:t>The supplied 4.7-month payback does not reconcile with the stated CAC, conversion rate and team revenue. Validate the economics before scale.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66928" y="5632704"/>
            <a:ext cx="11045952" cy="713232"/>
          </a:xfrm>
          <a:prstGeom prst="roundRect">
            <a:avLst/>
          </a:prstGeom>
          <a:solidFill>
            <a:srgbClr val="FDEDF1"/>
          </a:solidFill>
          <a:ln w="12700">
            <a:solidFill>
              <a:srgbClr val="FDED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22960" y="5852160"/>
            <a:ext cx="11430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D3455B"/>
                </a:solidFill>
                <a:latin typeface="Aptos"/>
              </a:rPr>
              <a:t>KILL CRITERION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993392" y="5751576"/>
            <a:ext cx="91897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C2332"/>
                </a:solidFill>
                <a:latin typeface="Aptos"/>
              </a:rPr>
              <a:t>If conversion is &lt;3% by end of Q2: stop scaling, add no Q3 headcount, and reallocate capacity to the core post-acute roadmap.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38912"/>
            <a:ext cx="530352" cy="310896"/>
          </a:xfrm>
          <a:prstGeom prst="roundRect">
            <a:avLst/>
          </a:prstGeom>
          <a:solidFill>
            <a:srgbClr val="0E1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07008" y="365760"/>
            <a:ext cx="99669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E162B"/>
                </a:solidFill>
                <a:latin typeface="Aptos Display"/>
              </a:rPr>
              <a:t>Individual Insights — What changed in my product-leadership thinking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07008" y="859536"/>
            <a:ext cx="98755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5E6778"/>
                </a:solidFill>
                <a:latin typeface="Aptos"/>
              </a:rPr>
              <a:t>The project connected strategy, prioritisation, operating model, finance and AI into one decision system.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6400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5E6778"/>
                </a:solidFill>
                <a:latin typeface="Aptos"/>
              </a:rPr>
              <a:t>FABLE GROWTH  •  PRODUCT LEADERSHIP CERTIFICATION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499616"/>
            <a:ext cx="3319272" cy="34472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95528" y="1755648"/>
            <a:ext cx="1097280" cy="310896"/>
          </a:xfrm>
          <a:prstGeom prst="roundRect">
            <a:avLst/>
          </a:prstGeom>
          <a:solidFill>
            <a:srgbClr val="EFE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695CEB"/>
                </a:solidFill>
                <a:latin typeface="Aptos"/>
              </a:rPr>
              <a:t>FRICTION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8" y="2286000"/>
            <a:ext cx="2852928" cy="2103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C2332"/>
                </a:solidFill>
                <a:latin typeface="Aptos"/>
              </a:rPr>
              <a:t>Keeping every decision anchored to one diagnosis while resisting attractive but off-strategy opportunities — and avoiding false precision where the case lacked baselines.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51376" y="1499616"/>
            <a:ext cx="3319272" cy="34472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79976" y="1755648"/>
            <a:ext cx="1097280" cy="310896"/>
          </a:xfrm>
          <a:prstGeom prst="roundRect">
            <a:avLst/>
          </a:prstGeom>
          <a:solidFill>
            <a:srgbClr val="E5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23B8A8"/>
                </a:solidFill>
                <a:latin typeface="Aptos"/>
              </a:rPr>
              <a:t>KEY LEARNINGS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79976" y="2286000"/>
            <a:ext cx="2852928" cy="2103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C2332"/>
                </a:solidFill>
                <a:latin typeface="Aptos"/>
              </a:rPr>
              <a:t>Strategy is visible in what does not get funded. Roadmaps are hypotheses. Decision rights remove ambiguity. Financial fluency means challenging assumptions and units. AI should strengthen judgment.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35824" y="1499616"/>
            <a:ext cx="3319272" cy="34472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964424" y="1755648"/>
            <a:ext cx="1097280" cy="310896"/>
          </a:xfrm>
          <a:prstGeom prst="roundRect">
            <a:avLst/>
          </a:prstGeom>
          <a:solidFill>
            <a:srgbClr val="FFF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5A623"/>
                </a:solidFill>
                <a:latin typeface="Aptos"/>
              </a:rPr>
              <a:t>AHA!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64424" y="2286000"/>
            <a:ext cx="2852928" cy="2103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E162B"/>
                </a:solidFill>
                <a:latin typeface="Aptos"/>
              </a:rPr>
              <a:t>Strategy, roadmap, team design and finance are the same decision viewed at different levels — each must reinforce the same bet and the same evidence threshold.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5212080"/>
            <a:ext cx="10488168" cy="1060704"/>
          </a:xfrm>
          <a:prstGeom prst="roundRect">
            <a:avLst/>
          </a:prstGeom>
          <a:solidFill>
            <a:srgbClr val="0E162B"/>
          </a:solidFill>
          <a:ln w="12700">
            <a:solidFill>
              <a:srgbClr val="0E16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" y="5449824"/>
            <a:ext cx="153619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23B8A8"/>
                </a:solidFill>
                <a:latin typeface="Aptos"/>
              </a:rPr>
              <a:t>LEADERSHIP TAKEAWAY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50592" y="5367528"/>
            <a:ext cx="81198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ptos"/>
              </a:rPr>
              <a:t>A strategy is operational only when the roadmap, decision rights, financial logic and kill criteria all tell the same story.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